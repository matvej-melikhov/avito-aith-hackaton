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914400"/>
            <a:ext cx="2377440" cy="2377440"/>
          </a:xfrm>
          <a:prstGeom prst="ellipse">
            <a:avLst/>
          </a:prstGeom>
          <a:solidFill>
            <a:srgbClr val="12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3291840"/>
            <a:ext cx="1371600" cy="1371600"/>
          </a:xfrm>
          <a:prstGeom prst="ellipse">
            <a:avLst/>
          </a:prstGeom>
          <a:noFill/>
          <a:ln w="15875">
            <a:solidFill>
              <a:srgbClr val="35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4206240"/>
            <a:ext cx="822960" cy="822960"/>
          </a:xfrm>
          <a:prstGeom prst="ellipse">
            <a:avLst/>
          </a:prstGeom>
          <a:noFill/>
          <a:ln w="15875">
            <a:solidFill>
              <a:srgbClr val="35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3886200"/>
            <a:ext cx="384048" cy="384048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8B7A"/>
                </a:solidFill>
                <a:latin typeface="Calibri"/>
              </a:rPr>
              <a:t>AVITO AI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8686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Промежуточный чекпоинт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C7CFDD"/>
                </a:solidFill>
                <a:latin typeface="Calibri"/>
              </a:rPr>
              <a:t>Движок проверки домашних работ по требованиям, с человеком в контуре решения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A6BB"/>
                </a:solidFill>
                <a:latin typeface="Calibri"/>
              </a:rPr>
              <a:t>4 сентября 2026, AI Talent Hub, хакатон AI Product 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B97AD"/>
                </a:solidFill>
                <a:latin typeface="Calibri"/>
              </a:rPr>
              <a:t>Мелихов Матвей — AI Product,  Губин Владимир — AI Engineer,  Поддуба Илья — AI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У проверки нет единого состояния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1">
                <a:solidFill>
                  <a:srgbClr val="1B2A4A"/>
                </a:solidFill>
                <a:latin typeface="Calibri"/>
              </a:rPr>
              <a:t>«Подробная обратная связь остаётся в GitHub или Stepik, а сводная информация хранится отдельно в Google Sheets. Из-за этого данные приходится сверять между несколькими системами, а при ручном переносе могут возникать ошибки или задержки.»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68A"/>
                </a:solidFill>
                <a:latin typeface="Calibri"/>
              </a:rPr>
              <a:t>— из описания кейса, слова заказчика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350215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368503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51960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B2A4A"/>
                </a:solidFill>
                <a:latin typeface="Cambria"/>
              </a:rPr>
              <a:t>Координация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709160"/>
            <a:ext cx="29900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Методист вручную распределяет работы, следит за сроками, переносит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результаты между системами.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64184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E8B7A"/>
                </a:solidFill>
                <a:latin typeface="Cambria"/>
              </a:rPr>
              <a:t>до 10 ч/нед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429000"/>
            <a:ext cx="350215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1144" y="368503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251960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B2A4A"/>
                </a:solidFill>
                <a:latin typeface="Cambria"/>
              </a:rPr>
              <a:t>Само ревью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4709160"/>
            <a:ext cx="29900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Ревьюер каждый раз заново держит в голове 5–9 критериев и вычитывает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работу целиком, чтобы их сопоставить.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564184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E8B7A"/>
                </a:solidFill>
                <a:latin typeface="Cambria"/>
              </a:rPr>
              <a:t>5–10 ч/нед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429000"/>
            <a:ext cx="3502152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66176" y="368503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4251960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B2A4A"/>
                </a:solidFill>
                <a:latin typeface="Cambria"/>
              </a:rPr>
              <a:t>Ввод ревьюеров в строй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4709160"/>
            <a:ext cx="29900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Доступы внешним экспертам, калибровочные встречи, вычитка обратной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связи новичков до отправки студенту.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564184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E8B7A"/>
                </a:solidFill>
                <a:latin typeface="Cambria"/>
              </a:rPr>
              <a:t>каждый поток заново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Что требует 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8B7A"/>
                </a:solidFill>
                <a:latin typeface="Calibri"/>
              </a:rPr>
              <a:t>ТРИ ОБЯЗАТЕЛЬНЫЕ ФУНКЦИИ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Распределение работ между ревьюерами с учётом нагрузки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Предварительное ревью по критериям с рекомендациями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Сигнал об использовании ИИ: уверенность и основания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E8B7A"/>
                </a:solidFill>
                <a:latin typeface="Calibri"/>
              </a:rPr>
              <a:t>ПЛЮС МИНИМУМ 3 ДОПОЛНИТЕЛЬНЫЕ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Дедлайны, уведомления, расчёт штрафа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Автозапись результата в Google Sheets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Сравнение версий при повторном ревью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50" b="1">
                <a:solidFill>
                  <a:srgbClr val="2E8B7A"/>
                </a:solidFill>
                <a:latin typeface="Calibri"/>
              </a:rPr>
              <a:t>—  </a:t>
            </a:r>
            <a:r>
              <a:rPr sz="1450">
                <a:solidFill>
                  <a:srgbClr val="1B2A4A"/>
                </a:solidFill>
                <a:latin typeface="Calibri"/>
              </a:rPr>
              <a:t>Типичные ошибки потока — предложения по материалам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E8B7A"/>
                </a:solidFill>
                <a:latin typeface="Calibri"/>
              </a:rPr>
              <a:t>ГЛАВНОЕ ОГРАНИЧЕНИЕ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56048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Calibri"/>
              </a:rPr>
              <a:t>Человек принимает финальное решение. ИИ не ставит оценку и не применяет санкции. Сигнал об ИИ — не доказательство: ревьюер подтверждает его или отклоняет.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НАШ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B2A4A"/>
                </a:solidFill>
                <a:latin typeface="Cambria"/>
              </a:rPr>
              <a:t>Один движок — LLM с тулами, три уровня строгости сигнала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68A"/>
                </a:solidFill>
                <a:latin typeface="Calibri"/>
              </a:rPr>
              <a:t>Любое требование детектит LLM, с тулом или без. Любой вердикт — сигнал, аппрувит ревьюер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50215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502152" cy="73152"/>
          </a:xfrm>
          <a:prstGeom prst="rect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Формальные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9008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LLM + ТУЛ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10712"/>
            <a:ext cx="299008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68A"/>
                </a:solidFill>
                <a:latin typeface="Calibri"/>
              </a:rPr>
              <a:t>«Построена диаграмма C4» — LLM вызывает тул поиска блока. Детерминированный факт, но тоже сигнал.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240280"/>
            <a:ext cx="350215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240280"/>
            <a:ext cx="3502152" cy="7315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532888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Содержательные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008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Calibri"/>
              </a:rPr>
              <a:t>LLM + ЦИТАТА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410712"/>
            <a:ext cx="299008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68A"/>
                </a:solidFill>
                <a:latin typeface="Calibri"/>
              </a:rPr>
              <a:t>«Есть ли декомпозиция по двум признакам» — LLM находит и цитирует, код валидирует цитату.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240280"/>
            <a:ext cx="350215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240280"/>
            <a:ext cx="3502152" cy="73152"/>
          </a:xfrm>
          <a:prstGeom prst="rect">
            <a:avLst/>
          </a:prstGeom>
          <a:solidFill>
            <a:srgbClr val="B4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532888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Оценочные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990088"/>
            <a:ext cx="29900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A2E"/>
                </a:solidFill>
                <a:latin typeface="Calibri"/>
              </a:rPr>
              <a:t>LLM СОВЕТУЕТ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410712"/>
            <a:ext cx="299008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68A"/>
                </a:solidFill>
                <a:latin typeface="Calibri"/>
              </a:rPr>
              <a:t>«Обосновано ли SRP» — LLM предлагает интервал и аргументы, решает человек.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4068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На реальной рубрике формальные и содержательные сигналы уже дают 4.5 из 6 баллов высокой уверенности — все сигналы аппрувит ревьюер.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Ядро не меняется, меняются адаптеры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331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B768A"/>
                </a:solidFill>
                <a:latin typeface="Calibri"/>
              </a:rPr>
              <a:t>АДАПТЕРЫ ВХОДА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807208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807208"/>
            <a:ext cx="19293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584448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584448"/>
            <a:ext cx="19293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Stepik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361688"/>
            <a:ext cx="1929384" cy="5486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61688"/>
            <a:ext cx="192938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Google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148840"/>
            <a:ext cx="4160520" cy="3200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35000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ЯДРО</a:t>
            </a:r>
          </a:p>
        </p:txBody>
      </p:sp>
      <p:sp>
        <p:nvSpPr>
          <p:cNvPr id="15" name="Oval 14"/>
          <p:cNvSpPr/>
          <p:nvPr/>
        </p:nvSpPr>
        <p:spPr>
          <a:xfrm>
            <a:off x="3794760" y="2770632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73405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Разбор артефакта</a:t>
            </a:r>
          </a:p>
        </p:txBody>
      </p:sp>
      <p:sp>
        <p:nvSpPr>
          <p:cNvPr id="17" name="Oval 16"/>
          <p:cNvSpPr/>
          <p:nvPr/>
        </p:nvSpPr>
        <p:spPr>
          <a:xfrm>
            <a:off x="3794760" y="3392424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35584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LLM по требованию (тул — опционально)</a:t>
            </a:r>
          </a:p>
        </p:txBody>
      </p:sp>
      <p:sp>
        <p:nvSpPr>
          <p:cNvPr id="19" name="Oval 18"/>
          <p:cNvSpPr/>
          <p:nvPr/>
        </p:nvSpPr>
        <p:spPr>
          <a:xfrm>
            <a:off x="3794760" y="4014216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97764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Валидация цитат / тулов</a:t>
            </a:r>
          </a:p>
        </p:txBody>
      </p:sp>
      <p:sp>
        <p:nvSpPr>
          <p:cNvPr id="21" name="Oval 20"/>
          <p:cNvSpPr/>
          <p:nvPr/>
        </p:nvSpPr>
        <p:spPr>
          <a:xfrm>
            <a:off x="3794760" y="4636008"/>
            <a:ext cx="329184" cy="32918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59943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Сборка сигналов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910328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B9C3D6"/>
                </a:solidFill>
                <a:latin typeface="Calibri"/>
              </a:rPr>
              <a:t>все вердикты — сигналы, тул — опция LLM</a:t>
            </a:r>
          </a:p>
        </p:txBody>
      </p:sp>
      <p:sp>
        <p:nvSpPr>
          <p:cNvPr id="24" name="Oval 23"/>
          <p:cNvSpPr/>
          <p:nvPr/>
        </p:nvSpPr>
        <p:spPr>
          <a:xfrm>
            <a:off x="8183879" y="2148840"/>
            <a:ext cx="1417320" cy="1417320"/>
          </a:xfrm>
          <a:prstGeom prst="ellipse">
            <a:avLst/>
          </a:prstGeom>
          <a:solidFill>
            <a:srgbClr val="E4F0EC"/>
          </a:solidFill>
          <a:ln w="15875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532888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ЧЕЛОВЕК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749039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Подтверждает, меняет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или отклоняет. Обойти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нельзя ни при каком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выходе.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892040"/>
            <a:ext cx="3291840" cy="77724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E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983480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E8B7A"/>
                </a:solidFill>
                <a:latin typeface="Calibri"/>
              </a:rPr>
              <a:t>КООРДИНАЦИЯ, ОТКЛЮЧАЕМЫЙ МОДУЛЬ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5257800"/>
            <a:ext cx="2889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68A"/>
                </a:solidFill>
                <a:latin typeface="Calibri"/>
              </a:rPr>
              <a:t>Пул, сроки, штрафы — не нужен для ревью кода в CI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71800" y="3749040.0"/>
            <a:ext cx="548640" cy="0.0"/>
          </a:xfrm>
          <a:prstGeom prst="line">
            <a:avLst/>
          </a:prstGeom>
          <a:ln w="15875">
            <a:solidFill>
              <a:srgbClr val="DEE3E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680960" y="2857500.0"/>
            <a:ext cx="502919" cy="891540.0"/>
          </a:xfrm>
          <a:prstGeom prst="line">
            <a:avLst/>
          </a:prstGeom>
          <a:ln w="15875">
            <a:solidFill>
              <a:srgbClr val="DEE3E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92539.0" y="3566160"/>
            <a:ext cx="0.0" cy="1325880"/>
          </a:xfrm>
          <a:prstGeom prst="line">
            <a:avLst/>
          </a:prstGeom>
          <a:ln w="12700">
            <a:solidFill>
              <a:srgbClr val="DEE3E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НОВОЕ РЕШЕНИЕ НЕДЕЛИ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B2A4A"/>
                </a:solidFill>
                <a:latin typeface="Cambria"/>
              </a:rPr>
              <a:t>Координатор создаёт задание один раз, ревьюер тянет сам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68A"/>
                </a:solidFill>
                <a:latin typeface="Calibri"/>
              </a:rPr>
              <a:t>Главная боль координатора — не часы, а раздробленность работы во времени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68A"/>
                </a:solidFill>
                <a:latin typeface="Calibri"/>
              </a:rPr>
              <a:t>БЫЛО (черновик идеи)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880360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852928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Условие пишется где-то ещё — GitHub, Stepik, PDF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538728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511296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Система пытается распознать критерии оттуда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197096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169664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вычитывает и правит распознанное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855464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82803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узнаёт у каждого ревьюера ёмкость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513832"/>
            <a:ext cx="310896" cy="310896"/>
          </a:xfrm>
          <a:prstGeom prst="ellipse">
            <a:avLst/>
          </a:prstGeom>
          <a:solidFill>
            <a:srgbClr val="6B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4864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раскладывает работы по ревьюерам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E8B7A"/>
                </a:solidFill>
                <a:latin typeface="Calibri"/>
              </a:rPr>
              <a:t>СТАЛО</a:t>
            </a:r>
          </a:p>
        </p:txBody>
      </p:sp>
      <p:sp>
        <p:nvSpPr>
          <p:cNvPr id="20" name="Oval 19"/>
          <p:cNvSpPr/>
          <p:nvPr/>
        </p:nvSpPr>
        <p:spPr>
          <a:xfrm>
            <a:off x="6556248" y="2880360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852928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один раз описывает задание в форме</a:t>
            </a:r>
          </a:p>
        </p:txBody>
      </p:sp>
      <p:sp>
        <p:nvSpPr>
          <p:cNvPr id="22" name="Oval 21"/>
          <p:cNvSpPr/>
          <p:nvPr/>
        </p:nvSpPr>
        <p:spPr>
          <a:xfrm>
            <a:off x="6556248" y="3538728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511296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Сохранил — задание сразу видно ревьюерам</a:t>
            </a:r>
          </a:p>
        </p:txBody>
      </p:sp>
      <p:sp>
        <p:nvSpPr>
          <p:cNvPr id="24" name="Oval 23"/>
          <p:cNvSpPr/>
          <p:nvPr/>
        </p:nvSpPr>
        <p:spPr>
          <a:xfrm>
            <a:off x="6556248" y="4197096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4169664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Ревьюер сам указывает, сколько готов взять</a:t>
            </a:r>
          </a:p>
        </p:txBody>
      </p:sp>
      <p:sp>
        <p:nvSpPr>
          <p:cNvPr id="26" name="Oval 25"/>
          <p:cNvSpPr/>
          <p:nvPr/>
        </p:nvSpPr>
        <p:spPr>
          <a:xfrm>
            <a:off x="6556248" y="4855464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828032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Система отдаёт ему работы из пула под ёмкость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5513832"/>
            <a:ext cx="310896" cy="310896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5486400"/>
            <a:ext cx="4160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B2A4A"/>
                </a:solidFill>
                <a:latin typeface="Calibri"/>
              </a:rPr>
              <a:t>Координатор возвращается, только если что-то застряло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ПРОГРЕСС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Что сделано ко второму сентября — четвёртому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2103120"/>
            <a:ext cx="0" cy="3584448"/>
          </a:xfrm>
          <a:prstGeom prst="line">
            <a:avLst/>
          </a:prstGeom>
          <a:ln w="19050">
            <a:solidFill>
              <a:srgbClr val="DE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86384" y="1920240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92224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Разбор кейса и материалов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92224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Описание кейса, драфт задачи, 8 направлений примеров работ из репозитория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816352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8833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Интервью с реальным ревьюером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88336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Расшифровка встречи с ревьюером курса Tech QA — первичные данные вместо догадок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12464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8444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Продуктовая постановка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584448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Проблема, цена ошибки, метрики, 10 гипотез, контракты — что нельзя нарушать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4608576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Архитектура и модель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48056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Ядро с адаптерами, 16 сущностей с ER-диаграммой, три класса требований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5504688"/>
            <a:ext cx="347472" cy="34747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76672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23 экрана в макете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376672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768A"/>
                </a:solidFill>
                <a:latin typeface="Calibri"/>
              </a:rPr>
              <a:t>Студент, ревьюер, координатор — от регистрации до журнала решений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ПЕРВЫЕ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Не гипотеза — интервью с реальным ревьюером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68A"/>
                </a:solidFill>
                <a:latin typeface="Calibri"/>
              </a:rPr>
              <a:t>Ревьюер курса Tech QA рассказал, как проверка устроена сегодня — с их собственным навыком для модели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~1 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ручная проверка одной работы, первые два потока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10–15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с их навыком для модели — ускорение в 4–6 раз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~100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студентов на типовой поток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2240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496312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E8B7A"/>
                </a:solidFill>
                <a:latin typeface="Cambria"/>
              </a:rPr>
              <a:t>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154680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ревьюеров минимум на один тип задания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8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1596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B45A2E"/>
                </a:solidFill>
                <a:latin typeface="Calibri"/>
              </a:rPr>
              <a:t>НАХОДКА, КОТОРАЯ МЕНЯЕТ НАШ ДИЗАЙН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634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B2A4A"/>
                </a:solidFill>
                <a:latin typeface="Calibri"/>
              </a:rPr>
              <a:t>Критерии на курсе описывают намеренно неполно — ревьюер лично проверил: скормил хорошо структурированное условие модели как есть, сдал результат как студент, работа прошла проверку. Это прямой риск для нашей идеи саморевью, где студент видит требования один в один. Решение ещё не выбрано — фиксируем как открытый вопрос, не как готовый ответ.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ПРОРАБОТКА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23 экрана по трём ролям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B768A"/>
                </a:solidFill>
                <a:latin typeface="Calibri"/>
              </a:rPr>
              <a:t>Каждый вывод модели — с цитатой из работы. Код проверяет, что цитата реальна, иначе вердикт отклоняется.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Студент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95351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5 экранов, сдача, саморевью, статус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Ревьюер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40050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5 экранов, кабинет, карточка работы, статистика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663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Координатор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505663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13 экранов, курсы, задания, пул, контроль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00200"/>
            <a:ext cx="52120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00200"/>
            <a:ext cx="521208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768A"/>
                </a:solidFill>
                <a:latin typeface="Calibri"/>
              </a:rPr>
              <a:t>reviewer / карточка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585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B2A4A"/>
                </a:solidFill>
                <a:latin typeface="Calibri"/>
              </a:rPr>
              <a:t>Студент 4821 — Wardrobe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402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E8B7A"/>
                </a:solidFill>
                <a:latin typeface="Cambria"/>
              </a:rPr>
              <a:t>4.5 из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83464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9443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Диаграмма C4, контекстная и компонентная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1" y="295351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E8B7A"/>
                </a:solidFill>
                <a:latin typeface="Calibri"/>
              </a:rPr>
              <a:t>выполнено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346704"/>
            <a:ext cx="42976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2" y="3346704"/>
            <a:ext cx="39684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68A"/>
                </a:solidFill>
                <a:latin typeface="Calibri"/>
              </a:rPr>
              <a:t>«C4Context, C4Component» — оба блока найдены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251960"/>
            <a:ext cx="4663440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36168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Calibri"/>
              </a:rPr>
              <a:t>Обосновано соблюдение SRP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1" y="43708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B45A2E"/>
                </a:solidFill>
                <a:latin typeface="Calibri"/>
              </a:rPr>
              <a:t>нужно решение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764024"/>
            <a:ext cx="42976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4764024"/>
            <a:ext cx="39684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68A"/>
                </a:solidFill>
                <a:latin typeface="Calibri"/>
              </a:rPr>
              <a:t>раздел есть, обоснование неполное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ЧЕСТНО О РИСКАХ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Что может не получиться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39111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3E6EC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29967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B2A4A"/>
                </a:solidFill>
                <a:latin typeface="Calibri"/>
              </a:rPr>
              <a:t>Главная гипотеза ещё не проверена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04871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«Пре-ревью достаточно точное, чтобы ревьюер его принимал, а не переписывал» — по плану проверяем первой, ещё до кода. Прогон не сделан. Порог провала объявлен заранее: точность по критериям &lt; 60% или ревьюер принимает &lt; 40% пунктов — тогда пивот на выжимку без вердиктов.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73152" cy="1371600"/>
          </a:xfrm>
          <a:prstGeom prst="rect">
            <a:avLst/>
          </a:prstGeom>
          <a:solidFill>
            <a:srgbClr val="B4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447287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79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3E6EC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602735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B2A4A"/>
                </a:solidFill>
                <a:latin typeface="Calibri"/>
              </a:rPr>
              <a:t>Точные критерии — уязвимость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77639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Если требования полностью структурированы и видны студенту в саморевью, работу можно скормить модели целиком. У Авито критерии поэтому намеренно неполные. Решение для нас пока не выбрано.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0055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84647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3E6EC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175503"/>
            <a:ext cx="9052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B2A4A"/>
                </a:solidFill>
                <a:latin typeface="Calibri"/>
              </a:rPr>
              <a:t>Часть вопросов кейсодателю без ответа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550407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Контур для моделей, приемлемая стоимость проверки, реальные баллы по критериям для калибровки. Работаем на зафиксированных допущениях, меняем на факты по мере ответов.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До финальной защиты — 7 сентября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02152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59"/>
            <a:ext cx="35021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Сегодня-завтра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43199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Прогнать главную гипотезу на 3 работах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Замерить время: 3 работы вручную, 3 с черновиком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По итогу решить: продолжаем или пивот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874519"/>
            <a:ext cx="3502152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194559"/>
            <a:ext cx="35021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До 6 сентября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43199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Рабочий MVP: адаптер GitHub, проверки кодом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Вызовы модели по требованиям с цитатами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Автозапись в Google Sheets, дедлайны, штрафы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874519"/>
            <a:ext cx="3502152" cy="64008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194559"/>
            <a:ext cx="3502152" cy="3200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874519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6-7 сентября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43199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Второй профиль задания, если успеваем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Заморозка кода утром 7 сентября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—  </a:t>
            </a:r>
            <a:r>
              <a:rPr sz="1200">
                <a:solidFill>
                  <a:srgbClr val="1B2A4A"/>
                </a:solidFill>
                <a:latin typeface="Calibri"/>
              </a:rPr>
              <a:t>Репетиции защиты, финальные слайды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8B7A"/>
                </a:solidFill>
                <a:latin typeface="Calibri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B2A4A"/>
                </a:solidFill>
                <a:latin typeface="Cambria"/>
              </a:rPr>
              <a:t>Три человека, 2-7 сентября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130551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ММ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Мелихов Матвей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54679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AI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538727"/>
            <a:ext cx="299008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Постановка и доказательства: критерии, разметка, метрики и гипотезы, связь с кейсодателем, сценарий демо, презентация. Право резать скоуп.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5303519"/>
            <a:ext cx="2990088" cy="457200"/>
          </a:xfrm>
          <a:prstGeom prst="roundRect">
            <a:avLst>
              <a:gd name="adj" fmla="val 2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03519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Активно, весь период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1144" y="2130551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ВГ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7889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Губин Владимир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154679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AI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538727"/>
            <a:ext cx="299008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Ядро проверки и интеграции: проверки кодом, вызовы модели по требованиям, сигнал об ИИ, сервис, GitHub и Google Sheets, интерфейс ревьюера.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1144" y="5303519"/>
            <a:ext cx="2990088" cy="457200"/>
          </a:xfrm>
          <a:prstGeom prst="roundRect">
            <a:avLst>
              <a:gd name="adj" fmla="val 2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5303519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Активно, отдельная ветка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874519"/>
            <a:ext cx="3502152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E3EA"/>
            </a:solidFill>
          </a:ln>
          <a:effectLst/>
          <a:effectLst>
            <a:outerShdw blurRad="90000" dist="3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6176" y="2130551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ИП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7889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Поддуба Илья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154679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AI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3538727"/>
            <a:ext cx="2990088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768A"/>
                </a:solidFill>
                <a:latin typeface="Calibri"/>
              </a:rPr>
              <a:t>Ядро проверки и интеграции: проверки кодом, вызовы модели по требованиям, сигнал об ИИ, сервис, GitHub и Google Sheets, интерфейс ревьюера.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6" y="5303519"/>
            <a:ext cx="2990088" cy="457200"/>
          </a:xfrm>
          <a:prstGeom prst="roundRect">
            <a:avLst>
              <a:gd name="adj" fmla="val 20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6" y="5303519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8B7A"/>
                </a:solidFill>
                <a:latin typeface="Calibri"/>
              </a:rPr>
              <a:t>Активно, отдельная ветка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B768A"/>
                </a:solidFill>
                <a:latin typeface="Calibri"/>
              </a:rPr>
              <a:t>AVITO AI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68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1097280"/>
            <a:ext cx="3657600" cy="3657600"/>
          </a:xfrm>
          <a:prstGeom prst="ellipse">
            <a:avLst/>
          </a:prstGeom>
          <a:solidFill>
            <a:srgbClr val="12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389120"/>
            <a:ext cx="3108960" cy="3108960"/>
          </a:xfrm>
          <a:prstGeom prst="ellipse">
            <a:avLst/>
          </a:prstGeom>
          <a:solidFill>
            <a:srgbClr val="12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Открытые вопросы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7CFDD"/>
                </a:solidFill>
                <a:latin typeface="Calibri"/>
              </a:rPr>
              <a:t>Прогон главной гипотезы на реальных работах — уже сегодня. Он решает, движемся дальше в текущем виде или перестраиваем ядро.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8B7A"/>
                </a:solidFill>
                <a:latin typeface="Calibri"/>
              </a:rPr>
              <a:t>github.com/matvej-melikhov/avito-aith-hackaton, ветка matvej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B97AD"/>
                </a:solidFill>
                <a:latin typeface="Calibri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
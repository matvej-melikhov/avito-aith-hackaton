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Курс набирает около ста студентов. Ревьюер тратит на одну работу примерно час, а весь поток нужно проверить за два дня. Это упирается не в мотивацию, а в арифметику. Мы сделали помощник, который разбирает работу по требованиям задания и на каждый вывод показывает место в тексте. Решение остаётся за человеком.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Ценность уже доказана, но не нами. Один ревьюер на курсе Tech QA написал себе навык для модели и стал проверять работу за десять-пятнадцать минут вместо часа. Год назад та же попытка на слабых моделях провалилась, было медленнее, чем руками. Наша работа в том, чтобы этот навык перестал быть личным.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Сейчас покажу одну работу, которая пройдёт весь путь. Студент сдаёт и до сдачи сам видит, чего не хватает. Ревьюер берёт эту работу из общего пула. Система показывает разбор по требованиям с цитатами. Ревьюер подтверждает результат. Это один сценарий целиком, а не обход функций.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ПЛЕЙСХОЛДЕР. Ролик ещё не снят. Записать один проход по сценарию слайда 03, без звука, курсор двигается медленно, паузы там, где говорит спикер. Длительность 1:50, 16 на 9, не ниже 1920 на 1080. Комментарий спикера идёт по таймкодам резервного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отличие от чата с моделью в третьем звене. Модель обязана привести фрагмент работы, и код проверяет, что этот фрагмент в работе действительно есть. Не нашлось — вердикт отклоняется и не показывается ревьюеру. Поэтому разбор можно проверить за секунды, а не перечитывать работу целиком.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ПЛЕЙСХОЛДЕР: колонка «результат» пустая, бенчмарк ещё не прогнан. Говорить так: пороги мы объявили до первого прогона и записали в репозиторий, включая порог провала. Сейчас в колонке результатов прочерки, прогон идёт. Что уже проверено — это разбор с цитатами, вы его видели в демо. Обещать здесь цифру, которой нет, я не буду.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Финальную фразу читаем дословно, не импровизируем. После неё молчим и ждём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47574"/>
                </a:solidFill>
                <a:latin typeface="Arial"/>
              </a:rPr>
              <a:t>AVITO AI REVIEWER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1A1A1A"/>
                </a:solidFill>
                <a:latin typeface="Arial"/>
              </a:rPr>
              <a:t>Проверка домашних работ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1A1A1A"/>
                </a:solidFill>
                <a:latin typeface="Arial"/>
              </a:rPr>
              <a:t>упирается в людей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718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4A4A4A"/>
                </a:solidFill>
                <a:latin typeface="Arial"/>
              </a:rPr>
              <a:t>Мы делаем помощник ревьюера: он разбирает работу по требованиям задания, на каждый вердикт приводит цитату из текста и отдаёт готовый черновик. Оценку ставит человек.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480560"/>
            <a:ext cx="3044952" cy="29260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~100 студентов на поток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480560"/>
            <a:ext cx="3163824" cy="292608"/>
          </a:xfrm>
          <a:prstGeom prst="roundRect">
            <a:avLst>
              <a:gd name="adj" fmla="val 50000"/>
            </a:avLst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~60 минут на одну работу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4032" y="4480560"/>
            <a:ext cx="2569464" cy="292608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4A4A4A"/>
                </a:solidFill>
                <a:latin typeface="Arial"/>
              </a:rPr>
              <a:t>2 дня на весь поток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56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85A00"/>
                </a:solidFill>
                <a:latin typeface="Arial"/>
              </a:rPr>
              <a:t>замер, интервью с ревьюером Tech 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737360"/>
            <a:ext cx="201168" cy="2743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66760" y="1737360"/>
            <a:ext cx="685800" cy="20116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4279392"/>
            <a:ext cx="685800" cy="20116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0" y="1737360"/>
            <a:ext cx="201168" cy="2743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45368" y="1737360"/>
            <a:ext cx="685800" cy="20116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45368" y="4279392"/>
            <a:ext cx="685800" cy="20116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33688" y="2121408"/>
            <a:ext cx="1975104" cy="1975104"/>
          </a:xfrm>
          <a:prstGeom prst="ellipse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8" y="2103120"/>
            <a:ext cx="1975104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0" b="1">
                <a:solidFill>
                  <a:srgbClr val="FFFFFF"/>
                </a:solidFill>
                <a:latin typeface="Arial"/>
              </a:rPr>
              <a:t>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Avito AI 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47574"/>
                </a:solidFill>
                <a:latin typeface="Arial"/>
              </a:rPr>
              <a:t>ЦЕННОСТЬ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Ускорение уже существует.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Оно живёт в голове одного человека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4A4A4A"/>
                </a:solidFill>
                <a:latin typeface="Arial"/>
              </a:rPr>
              <a:t>На курсе Tech QA ревьюер собрал себе навык для модели и стал закрывать работу за 10–15 минут вместо часа. Это не наша гипотеза, а факт с курса.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383280"/>
            <a:ext cx="3429000" cy="25146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6393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БЫЛО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50208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400" b="1">
                <a:solidFill>
                  <a:srgbClr val="C8202F"/>
                </a:solidFill>
                <a:latin typeface="Arial"/>
              </a:rPr>
              <a:t>~60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6460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минут на работу, полностью вручную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4406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85A00"/>
                </a:solidFill>
                <a:latin typeface="Arial"/>
              </a:rPr>
              <a:t>замер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3383280"/>
            <a:ext cx="3429000" cy="2514600"/>
          </a:xfrm>
          <a:prstGeom prst="rect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393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Arial"/>
              </a:rPr>
              <a:t>СТАЛО У ОДНОГО РЕВЬЮЕРА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950208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400" b="1">
                <a:solidFill>
                  <a:srgbClr val="1A1A1A"/>
                </a:solidFill>
                <a:latin typeface="Arial"/>
              </a:rPr>
              <a:t>10–15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86460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минут, личный навык для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54406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Arial"/>
              </a:rPr>
              <a:t>замер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3383280"/>
            <a:ext cx="3429000" cy="2514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6393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4E061"/>
                </a:solidFill>
                <a:latin typeface="Arial"/>
              </a:rPr>
              <a:t>ЧТО ДЕЛАЕМ МЫ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986784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Превращаем навык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в платформу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956048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A9AAA9"/>
                </a:solidFill>
                <a:latin typeface="Arial"/>
              </a:rPr>
              <a:t>Требования как данные, цитата на каждый вердикт, журнал решений. Работает на любом курсе и не зависит от одного человека.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Год назад ту же идею пробовали на слабых моделях, стало медленнее, чем руками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47574"/>
                </a:solidFill>
                <a:latin typeface="Arial"/>
              </a:rPr>
              <a:t>ДЕМО, ОДИН СКВОЗНОЙ СЦЕНАРИЙ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Одна работа проходит весь путь: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от сдачи до подтверждённой оценки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2622727" cy="2286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25496"/>
            <a:ext cx="21655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СТУДЕНТ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Сдаёт и проверяет себя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04488"/>
            <a:ext cx="216552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Приходит по ссылке из Stepik, видит незакрытые требования до сдачи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8255" y="2606040"/>
            <a:ext cx="2622727" cy="2286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6855" y="2825496"/>
            <a:ext cx="21655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ПУЛ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6855" y="315468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Ревьюер берёт работу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6855" y="3904488"/>
            <a:ext cx="216552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Никто ничего не раскладывает, работа закрепляется одним нажатием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0711" y="2606040"/>
            <a:ext cx="2622727" cy="2286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2825496"/>
            <a:ext cx="21655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РАЗБОР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315468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Модель показывает места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3904488"/>
            <a:ext cx="216552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По каждому требованию вердикт, цитата и строки в файле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3167" y="2606040"/>
            <a:ext cx="2622727" cy="2286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1767" y="2825496"/>
            <a:ext cx="21655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4E061"/>
                </a:solidFill>
                <a:latin typeface="Arial"/>
              </a:rPr>
              <a:t>РЕШЕНИЕ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1767" y="315468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Человек подтверждает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1767" y="3904488"/>
            <a:ext cx="216552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A9AAA9"/>
                </a:solidFill>
                <a:latin typeface="Arial"/>
              </a:rPr>
              <a:t>Соглашается, меняет оценку, правит ответ студенту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578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4A4A4A"/>
                </a:solidFill>
                <a:latin typeface="Arial"/>
              </a:rPr>
              <a:t>Смотрим за одной работой. Все четыре шага идут подряд, без перескоков во времени и без обхода остальных экранов.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Avito AI Reviewer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18607" y="2377440"/>
            <a:ext cx="1554480" cy="1554480"/>
          </a:xfrm>
          <a:prstGeom prst="ellipse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5400000">
            <a:off x="5876391" y="2862072"/>
            <a:ext cx="566928" cy="585216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20624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9AAA9"/>
                </a:solidFill>
                <a:latin typeface="Arial"/>
              </a:rPr>
              <a:t>demo-full-run.mp4, 1:50, без звука, спикер комментирует вживую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AAA9"/>
                </a:solidFill>
                <a:latin typeface="Arial"/>
              </a:rPr>
              <a:t>Вставить запись демо вместо этой заглушки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AAA9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47574"/>
                </a:solidFill>
                <a:latin typeface="Arial"/>
              </a:rPr>
              <a:t>КАК УСТРОЕНА ПРОВЕРКА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Модель не может сослаться на то,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чего студент не писал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2622727" cy="2286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25496"/>
            <a:ext cx="21655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Требования как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04488"/>
            <a:ext cx="216552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Критерии со шкалами и условием «что считается выполненным»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8255" y="2606040"/>
            <a:ext cx="2622727" cy="2286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6855" y="2825496"/>
            <a:ext cx="21655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6855" y="315468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Вызов на каждое требование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6855" y="3904488"/>
            <a:ext cx="216552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Отдельный запрос по каждому пункту, а не один общий «оцени работу»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0711" y="2606040"/>
            <a:ext cx="2622727" cy="2286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2825496"/>
            <a:ext cx="21655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4E061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315468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Цитату сверяет код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3904488"/>
            <a:ext cx="216552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A9AAA9"/>
                </a:solidFill>
                <a:latin typeface="Arial"/>
              </a:rPr>
              <a:t>Нет фрагмента в работе — вердикт отклонён и не показан. Это гейт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3167" y="2606040"/>
            <a:ext cx="2622727" cy="2286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1767" y="2825496"/>
            <a:ext cx="21655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1767" y="315468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Человек и журнал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1767" y="3904488"/>
            <a:ext cx="216552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Балл ставит ревьюер, каждая правка пишется в журнал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166360"/>
            <a:ext cx="10820095" cy="868680"/>
          </a:xfrm>
          <a:prstGeom prst="rect">
            <a:avLst/>
          </a:prstGeom>
          <a:noFill/>
          <a:ln w="12700">
            <a:solidFill>
              <a:srgbClr val="EDE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349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ОГРАНИЧЕНИЯ НАЗЫВАЕМ САМИ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5349240"/>
            <a:ext cx="8076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4A4A4A"/>
                </a:solidFill>
                <a:latin typeface="Arial"/>
              </a:rPr>
              <a:t>Оценочные критерии модель только советует. Открытые модели на этой задаче дают плохой результат, берём фронтир. Влияние на успеваемость за неделю не проверяли.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Контрольный вариант для сравнения: те же работы одним общим промптом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47574"/>
                </a:solidFill>
                <a:latin typeface="Arial"/>
              </a:rPr>
              <a:t>ЧТО ИЗМЕРЕНО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Пороги объявлены до прогона,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а не подогнаны после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47574"/>
                </a:solidFill>
                <a:latin typeface="Arial"/>
              </a:rPr>
              <a:t>ЧТО МЕРЯЕМ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25146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47574"/>
                </a:solidFill>
                <a:latin typeface="Arial"/>
              </a:rPr>
              <a:t>ПОРОГ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80" y="25146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47574"/>
                </a:solidFill>
                <a:latin typeface="Arial"/>
              </a:rPr>
              <a:t>РЕЗУЛЬТАТ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5146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47574"/>
                </a:solidFill>
                <a:latin typeface="Arial"/>
              </a:rPr>
              <a:t>ОТКУДА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25496"/>
            <a:ext cx="10820095" cy="10972"/>
          </a:xfrm>
          <a:prstGeom prst="rect">
            <a:avLst/>
          </a:prstGeom>
          <a:solidFill>
            <a:srgbClr val="74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9008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Точность по требованиям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99008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от 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99008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47574"/>
                </a:solidFill>
                <a:latin typeface="Arial"/>
              </a:rP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94436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>
                <a:solidFill>
                  <a:srgbClr val="B85A00"/>
                </a:solidFill>
                <a:latin typeface="Arial"/>
              </a:rPr>
              <a:t>цель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92424"/>
            <a:ext cx="10820095" cy="7315"/>
          </a:xfrm>
          <a:prstGeom prst="rect">
            <a:avLst/>
          </a:prstGeom>
          <a:solidFill>
            <a:srgbClr val="ED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5701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Ошибка по сумме баллов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55701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до 1 из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5570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47574"/>
                </a:solidFill>
                <a:latin typeface="Arial"/>
              </a:rP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3511296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>
                <a:solidFill>
                  <a:srgbClr val="B85A00"/>
                </a:solidFill>
                <a:latin typeface="Arial"/>
              </a:rPr>
              <a:t>цель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59352"/>
            <a:ext cx="10820095" cy="7315"/>
          </a:xfrm>
          <a:prstGeom prst="rect">
            <a:avLst/>
          </a:prstGeom>
          <a:solidFill>
            <a:srgbClr val="ED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23944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Решение о зачёте совпало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123944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412394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47574"/>
                </a:solidFill>
                <a:latin typeface="Arial"/>
              </a:rP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4078224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>
                <a:solidFill>
                  <a:srgbClr val="B85A00"/>
                </a:solidFill>
                <a:latin typeface="Arial"/>
              </a:rPr>
              <a:t>цель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526280"/>
            <a:ext cx="10820095" cy="7315"/>
          </a:xfrm>
          <a:prstGeom prst="rect">
            <a:avLst/>
          </a:prstGeom>
          <a:solidFill>
            <a:srgbClr val="ED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9087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Вердиктов принято без правок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69087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от 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469087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47574"/>
                </a:solidFill>
                <a:latin typeface="Arial"/>
              </a:rP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645152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>
                <a:solidFill>
                  <a:srgbClr val="B85A00"/>
                </a:solidFill>
                <a:latin typeface="Arial"/>
              </a:rPr>
              <a:t>цель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093208"/>
            <a:ext cx="10820095" cy="7315"/>
          </a:xfrm>
          <a:prstGeom prst="rect">
            <a:avLst/>
          </a:prstGeom>
          <a:solidFill>
            <a:srgbClr val="ED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25780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Время на работу у ревьюера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525780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−30%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525780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47574"/>
                </a:solidFill>
                <a:latin typeface="Arial"/>
              </a:rP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40" y="521208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>
                <a:solidFill>
                  <a:srgbClr val="B85A00"/>
                </a:solidFill>
                <a:latin typeface="Arial"/>
              </a:rPr>
              <a:t>цель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660136"/>
            <a:ext cx="10820095" cy="7315"/>
          </a:xfrm>
          <a:prstGeom prst="rect">
            <a:avLst/>
          </a:prstGeom>
          <a:solidFill>
            <a:srgbClr val="ED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5623560"/>
            <a:ext cx="5250027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5788152"/>
            <a:ext cx="4737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4E061"/>
                </a:solidFill>
                <a:latin typeface="Arial"/>
              </a:rPr>
              <a:t>ПОРОГ ПРОВАЛА ОБЪЯВЛЕН ЗАРАНЕЕ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6062472"/>
            <a:ext cx="47379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9AAA9"/>
                </a:solidFill>
                <a:latin typeface="Arial"/>
              </a:rPr>
              <a:t>Точность ниже 60% или принято меньше 40% пунктов. Тогда система перестаёт ставить вердикты и собирает выжимку с цитатами.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5867" y="5623560"/>
            <a:ext cx="5250027" cy="868680"/>
          </a:xfrm>
          <a:prstGeom prst="rect">
            <a:avLst/>
          </a:prstGeom>
          <a:noFill/>
          <a:ln w="12700">
            <a:solidFill>
              <a:srgbClr val="EDE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1899" y="5788152"/>
            <a:ext cx="4737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47574"/>
                </a:solidFill>
                <a:latin typeface="Arial"/>
              </a:rPr>
              <a:t>ЧТО СРАВНИВАЕМ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1899" y="6062472"/>
            <a:ext cx="47379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A4A4A"/>
                </a:solidFill>
                <a:latin typeface="Arial"/>
              </a:rPr>
              <a:t>Те же работы прогоняем одним общим промптом. Разница с нашим пайплайном и есть ответ, зачем это, если есть чат с моделью.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Разметка ручная, по требованиям, набор работ зафиксирован в репозитории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47574"/>
                </a:solidFill>
                <a:latin typeface="Arial"/>
              </a:rPr>
              <a:t>ГОТОВНОСТЬ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Что работает, что измеряем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и о чём просим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14600"/>
            <a:ext cx="3429000" cy="2148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34056"/>
            <a:ext cx="29169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47574"/>
                </a:solidFill>
                <a:latin typeface="Arial"/>
              </a:rPr>
              <a:t>СДЕЛАНО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" y="3182112"/>
            <a:ext cx="128016" cy="27432"/>
          </a:xfrm>
          <a:prstGeom prst="rect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081528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Разбор по требованиям с цитатами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3566160"/>
            <a:ext cx="128016" cy="27432"/>
          </a:xfrm>
          <a:prstGeom prst="rect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465576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Общий пул и взятие работы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" y="3950208"/>
            <a:ext cx="128016" cy="27432"/>
          </a:xfrm>
          <a:prstGeom prst="rect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849624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Самопроверка студента до сдачи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" y="4334256"/>
            <a:ext cx="128016" cy="27432"/>
          </a:xfrm>
          <a:prstGeom prst="rect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233672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Журнал решений по каждой работе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514600"/>
            <a:ext cx="3429000" cy="2148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734056"/>
            <a:ext cx="29169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47574"/>
                </a:solidFill>
                <a:latin typeface="Arial"/>
              </a:rPr>
              <a:t>ПРОВЕРЯЕМ СЕЙЧАС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0872" y="3182112"/>
            <a:ext cx="128016" cy="27432"/>
          </a:xfrm>
          <a:prstGeom prst="rect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8" y="3081528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Точность против ручной разметки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0872" y="3566160"/>
            <a:ext cx="128016" cy="27432"/>
          </a:xfrm>
          <a:prstGeom prst="rect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3465576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Сравнение с общим промптом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90872" y="3950208"/>
            <a:ext cx="128016" cy="27432"/>
          </a:xfrm>
          <a:prstGeom prst="rect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3849624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4A4A4A"/>
                </a:solidFill>
                <a:latin typeface="Arial"/>
              </a:rPr>
              <a:t>Время ревьюера на шести работах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2514600"/>
            <a:ext cx="3429000" cy="2148840"/>
          </a:xfrm>
          <a:prstGeom prst="rect">
            <a:avLst/>
          </a:prstGeom>
          <a:solidFill>
            <a:srgbClr val="04E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2734056"/>
            <a:ext cx="29169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Arial"/>
              </a:rPr>
              <a:t>ПРОСИМ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9912" y="3182112"/>
            <a:ext cx="128016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9368" y="3081528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Arial"/>
              </a:rPr>
              <a:t>Пилот на одном потоке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39912" y="3566160"/>
            <a:ext cx="128016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59368" y="3465576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Arial"/>
              </a:rPr>
              <a:t>Доступ к критериям одного курса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39912" y="3950208"/>
            <a:ext cx="128016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9368" y="3849624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Arial"/>
              </a:rPr>
              <a:t>Два ревьюера на замер времени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937760"/>
            <a:ext cx="10820095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120640"/>
            <a:ext cx="101800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4E061"/>
                </a:solidFill>
                <a:latin typeface="Arial"/>
              </a:rPr>
              <a:t>ФИНАЛЬНАЯ ФРАЗА, 12 СЕКУНД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440680"/>
            <a:ext cx="101800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«Ускорение проверки на курсе уже есть, но держится на одном человеке. Мы сделали его воспроизводимым: каждый вывод с цитатой, решение за ревьюером, журнал на каждую правку. Просим пилот на одном потоке, чтобы измерить эффект на реальных работах»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Avito AI Reviewer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47574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